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8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 panose="020B0604020202020204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70FC-9F21-43DD-A814-2A37216E1A43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6A7EF-AEA4-444B-8853-25F8CA8C2E25}" type="slidenum">
              <a:rPr lang="en-US" sz="1200" b="0" strike="noStrike" spc="-1">
                <a:solidFill>
                  <a:srgbClr val="000000"/>
                </a:solidFill>
                <a:latin typeface="Times New Roman" panose="02020603050405020304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5E3A4B-81C9-47EF-8083-AAAA5FE497FC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2B4AB-D6C5-4F9C-AAA9-ACD7D8D2980C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5900" indent="-215900">
              <a:buNone/>
            </a:pPr>
            <a:endParaRPr lang="en-IN" sz="18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 panose="020F0502020204030204"/>
                <a:ea typeface="MS PGothic" panose="020B0600070205080204" charset="-128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43D709-9438-4E06-9555-263A089F8E2E}" type="slidenum">
              <a:rPr/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C13E427-BF0C-4257-840D-040CEDF73CD9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9AAB66A-BCF3-4CCF-B2B3-38A175E22F37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30A4CCE-CA8D-4F95-B031-78B720E2EAF9}" type="slidenum">
              <a:r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2A2F1F5-2130-425C-A1AF-87C7138E8D3A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5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CB91DC3-8269-45C3-86BA-F25D3B279840}" type="slidenum">
              <a:r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030E11C-33DD-4774-A059-0A0513AEF73E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359EA091-27D9-4266-BAC3-4E0E3E6F5BE4}" type="slidenum">
              <a:r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0BBE227-CE76-4EE2-99E7-C975B1F063E8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0B753A3-1247-4BEF-A58B-3AFE5A5F739C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B6BBEB7-9907-439F-AC21-1B212AEF332B}" type="slidenum">
              <a:r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6F86A-54A0-4A0A-9141-F1129B62A1C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027678-E409-4D23-81BB-579826C0454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9D7A32-9AD0-4A6F-BCFD-931EBC82135E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A26866-9E38-4D79-92AB-2D6358588418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549CDE-AB06-457C-8565-E91EFFEADEB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5046AC-5463-4406-A176-CAA4A67B62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84A541-3FE1-4CE7-BAC7-85C62F3D5369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A125A6-50F5-44E1-AE96-97F0A47EF094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AAFB62-1C50-42B8-AF76-E28AAFD9CAD0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786ED9-6CF6-4911-A926-5445554965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1E26C6-8147-4A1B-A690-24E72B344482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MS PGothic" panose="020B0600070205080204" charset="-128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/>
          <p:cNvSpPr/>
          <p:nvPr/>
        </p:nvSpPr>
        <p:spPr>
          <a:xfrm>
            <a:off x="4687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56" name="Freeform: Shape 26"/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 rot="10800000" flipV="1">
            <a:off x="213328" y="1373040"/>
            <a:ext cx="8377745" cy="3556769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Problem Statement ID – 01</a:t>
            </a:r>
            <a:endParaRPr lang="en-IN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Problem Statement Title- 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Road Damage Reporting &amp; Rapid Response System for Solapur Municipal Corporation</a:t>
            </a:r>
            <a:endParaRPr lang="en-IN" sz="2400" b="1" strike="noStrike" spc="-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Theme- Software</a:t>
            </a:r>
            <a:endParaRPr lang="en-IN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MS PGothic" panose="020B0600070205080204" charset="-128"/>
                <a:cs typeface="Times New Roman" panose="02020603050405020304" pitchFamily="18" charset="0"/>
              </a:rPr>
              <a:t>Team Name - BOLT</a:t>
            </a:r>
            <a:endParaRPr lang="en-IN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457200">
              <a:lnSpc>
                <a:spcPct val="100000"/>
              </a:lnSpc>
              <a:spcBef>
                <a:spcPts val="640"/>
              </a:spcBef>
              <a:tabLst>
                <a:tab pos="0" algn="l"/>
              </a:tabLst>
            </a:pPr>
            <a:endParaRPr lang="en-IN" sz="32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chemeClr val="dk2"/>
                </a:solidFill>
                <a:latin typeface="Garamond" panose="02020404030301010803"/>
                <a:ea typeface="MS PGothic" panose="020B0600070205080204" charset="-128"/>
              </a:rPr>
              <a:t>“SAMVED” HACKATHON 2026</a:t>
            </a:r>
            <a:endParaRPr lang="en-IN" sz="40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331470" y="1061085"/>
            <a:ext cx="8018145" cy="133939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no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285750" indent="-285750" algn="just" defTabSz="457200">
              <a:lnSpc>
                <a:spcPct val="2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IN" sz="24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2"/>
          <a:stretch>
            <a:fillRect/>
          </a:stretch>
        </p:blipFill>
        <p:spPr>
          <a:xfrm>
            <a:off x="8640000" y="1373040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3"/>
          <a:stretch>
            <a:fillRect/>
          </a:stretch>
        </p:blipFill>
        <p:spPr>
          <a:xfrm>
            <a:off x="8733240" y="3420000"/>
            <a:ext cx="3099960" cy="126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82880" y="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br>
              <a:rPr lang="en-US" sz="2800" b="0" strike="noStrike" spc="-1" dirty="0">
                <a:solidFill>
                  <a:srgbClr val="000000"/>
                </a:solidFill>
                <a:latin typeface="Arial" panose="020B0604020202020204"/>
              </a:rPr>
            </a:b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182880" y="1123179"/>
            <a:ext cx="11724640" cy="5205865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2900" indent="-342900" defTabSz="457200">
              <a:lnSpc>
                <a:spcPct val="100000"/>
              </a:lnSpc>
              <a:buClr>
                <a:srgbClr val="1F497D"/>
              </a:buClr>
              <a:buFont typeface="Wingdings" panose="05000000000000000000" pitchFamily="2" charset="2"/>
              <a:buChar char=""/>
            </a:pPr>
            <a:r>
              <a:rPr lang="en-US" sz="3200" b="1" u="sng" strike="noStrike" spc="-1" dirty="0">
                <a:solidFill>
                  <a:schemeClr val="dk2"/>
                </a:solidFill>
                <a:uFillTx/>
                <a:latin typeface="Arial" panose="020B0604020202020204"/>
                <a:ea typeface="MS PGothic" panose="020B0600070205080204" charset="-128"/>
              </a:rPr>
              <a:t>Proposed Solution</a:t>
            </a:r>
            <a:endParaRPr lang="en-IN" sz="32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defTabSz="457200">
              <a:lnSpc>
                <a:spcPct val="100000"/>
              </a:lnSpc>
            </a:pPr>
            <a:endParaRPr lang="en-IN" sz="2000" b="0" strike="noStrike" spc="-1" dirty="0">
              <a:solidFill>
                <a:srgbClr val="000000"/>
              </a:solidFill>
              <a:latin typeface="Arial" panose="020B0604020202020204"/>
            </a:endParaRP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US" altLang="en-US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B43EC6-6A2F-4FEF-B416-2BF9BFF0B0D0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66" name="Oval 9"/>
          <p:cNvSpPr/>
          <p:nvPr/>
        </p:nvSpPr>
        <p:spPr>
          <a:xfrm>
            <a:off x="284480" y="31750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strike="noStrike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BOLT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4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5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Table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1225995"/>
              </p:ext>
            </p:extLst>
          </p:nvPr>
        </p:nvGraphicFramePr>
        <p:xfrm>
          <a:off x="864705" y="1947959"/>
          <a:ext cx="10436085" cy="2979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53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8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2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9006">
                <a:tc>
                  <a:txBody>
                    <a:bodyPr/>
                    <a:lstStyle/>
                    <a:p>
                      <a:r>
                        <a:rPr lang="en-US" sz="3200" b="1" dirty="0">
                          <a:solidFill>
                            <a:schemeClr val="accent2"/>
                          </a:solidFill>
                        </a:rPr>
                        <a:t>            Problem</a:t>
                      </a:r>
                    </a:p>
                    <a:p>
                      <a:endParaRPr lang="en-US" sz="3200" b="1" dirty="0">
                        <a:solidFill>
                          <a:schemeClr val="accent2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Repeated potholes due to rain, traffic load, weak base, poor drainage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 real-time reporting &amp; monitoring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Same locations get damaged again and again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             </a:t>
                      </a:r>
                      <a:r>
                        <a:rPr 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Our Idea</a:t>
                      </a:r>
                    </a:p>
                    <a:p>
                      <a:endParaRPr lang="en-US" sz="28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two-part solution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AI system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to detect, report, monitor road damage</a:t>
                      </a:r>
                    </a:p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Smart multi-layer plastic road design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to prevent potholes permanently</a:t>
                      </a: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   Innovation</a:t>
                      </a:r>
                    </a:p>
                    <a:p>
                      <a:endParaRPr lang="en-US" sz="2800" b="1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Not just reporting potholes —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preventing them from forming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US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 panose="020F0502020204030204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1072080" y="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       </a:t>
            </a: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TECHNICAL APPROACH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97DFA0-2B89-4689-95EA-35970505E89A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MS PGothic" panose="020B0600070205080204" charset="-128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3" name="Oval 10"/>
          <p:cNvSpPr/>
          <p:nvPr/>
        </p:nvSpPr>
        <p:spPr>
          <a:xfrm>
            <a:off x="269022" y="308304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BOLT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000" y="14400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78FF4A-A89C-E32A-7E40-BC9DFEA63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62564"/>
              </p:ext>
            </p:extLst>
          </p:nvPr>
        </p:nvGraphicFramePr>
        <p:xfrm>
          <a:off x="894522" y="1307136"/>
          <a:ext cx="4333461" cy="454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6365">
                  <a:extLst>
                    <a:ext uri="{9D8B030D-6E8A-4147-A177-3AD203B41FA5}">
                      <a16:colId xmlns:a16="http://schemas.microsoft.com/office/drawing/2014/main" val="721566716"/>
                    </a:ext>
                  </a:extLst>
                </a:gridCol>
                <a:gridCol w="2107096">
                  <a:extLst>
                    <a:ext uri="{9D8B030D-6E8A-4147-A177-3AD203B41FA5}">
                      <a16:colId xmlns:a16="http://schemas.microsoft.com/office/drawing/2014/main" val="2053321480"/>
                    </a:ext>
                  </a:extLst>
                </a:gridCol>
              </a:tblGrid>
              <a:tr h="663106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Component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Technology Used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583941"/>
                  </a:ext>
                </a:extLst>
              </a:tr>
              <a:tr h="378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Mobile/Web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Flutter / React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6301583"/>
                  </a:ext>
                </a:extLst>
              </a:tr>
              <a:tr h="378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Backend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Node.js / Django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894662"/>
                  </a:ext>
                </a:extLst>
              </a:tr>
              <a:tr h="66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PostgreSQL / MongoDB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028370"/>
                  </a:ext>
                </a:extLst>
              </a:tr>
              <a:tr h="66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Image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Python, OpenCV, TensorFlow/Keras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9064650"/>
                  </a:ext>
                </a:extLst>
              </a:tr>
              <a:tr h="378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Maps &amp; Geo-tagging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Google Maps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471881"/>
                  </a:ext>
                </a:extLst>
              </a:tr>
              <a:tr h="378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Notifications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Firebase / SMS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9816374"/>
                  </a:ext>
                </a:extLst>
              </a:tr>
              <a:tr h="378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Admin Panel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6870377"/>
                  </a:ext>
                </a:extLst>
              </a:tr>
              <a:tr h="6631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Cloud (AWS / Firebase)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8376564"/>
                  </a:ext>
                </a:extLst>
              </a:tr>
            </a:tbl>
          </a:graphicData>
        </a:graphic>
      </p:graphicFrame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6A0B3BE2-DF57-DED5-E657-CC7EFBB1B4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Generated image">
            <a:extLst>
              <a:ext uri="{FF2B5EF4-FFF2-40B4-BE49-F238E27FC236}">
                <a16:creationId xmlns:a16="http://schemas.microsoft.com/office/drawing/2014/main" id="{498823BB-7550-27F7-6A54-82A3E7D94F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406C8E-D07E-AE11-1D9D-0119EA7EA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242" y="1189596"/>
            <a:ext cx="3931037" cy="48615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382680"/>
            <a:ext cx="8553209" cy="69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 </a:t>
            </a: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FEASIBILITY AND VIABILITY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2B4984-A851-437F-9FF6-020B4ADC801A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329760" y="25236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BOLT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81" name="Picture 80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1"/>
          <p:cNvPicPr/>
          <p:nvPr/>
        </p:nvPicPr>
        <p:blipFill>
          <a:blip r:embed="rId4"/>
          <a:stretch>
            <a:fillRect/>
          </a:stretch>
        </p:blipFill>
        <p:spPr>
          <a:xfrm>
            <a:off x="8204901" y="108900"/>
            <a:ext cx="1716120" cy="697320"/>
          </a:xfrm>
          <a:prstGeom prst="rect">
            <a:avLst/>
          </a:prstGeom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48E5766-17EA-320C-EA74-79361AD029D3}"/>
              </a:ext>
            </a:extLst>
          </p:cNvPr>
          <p:cNvSpPr txBox="1"/>
          <p:nvPr/>
        </p:nvSpPr>
        <p:spPr>
          <a:xfrm>
            <a:off x="329761" y="1250640"/>
            <a:ext cx="11628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Citizen captures road damage photo using mobile app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Image is automatically geo-tagged with GPS location and time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Image and details uploaded to central system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AI model analyzes image and detects pothole/crack severity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Complaint data stored in centralized database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SMC dashboard displays the issue on live map view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Engineer / contractor is assigned for repair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Repair work completed on site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After-repair proof image uploaded for verification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System analyzes complaint history to find repeated pothole zones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Recommendation generated to construct </a:t>
            </a:r>
            <a:r>
              <a:rPr lang="en-US" sz="2400" b="1" dirty="0"/>
              <a:t>smart plastic pothole-resistant road</a:t>
            </a:r>
            <a:r>
              <a:rPr lang="en-US" sz="2400" dirty="0"/>
              <a:t> in those areas.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9210381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IMPACT AND BENEFITS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9EEA44-DB6D-4734-8EBF-8D8B568EA8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7" name="Oval 11"/>
          <p:cNvSpPr/>
          <p:nvPr/>
        </p:nvSpPr>
        <p:spPr>
          <a:xfrm>
            <a:off x="233280" y="28404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BOLT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>
            <a:fillRect/>
          </a:stretch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99CACB0-F6F3-AF12-8FD1-1F7D57F2D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071742"/>
              </p:ext>
            </p:extLst>
          </p:nvPr>
        </p:nvGraphicFramePr>
        <p:xfrm>
          <a:off x="609481" y="1286640"/>
          <a:ext cx="6139189" cy="3851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835">
                  <a:extLst>
                    <a:ext uri="{9D8B030D-6E8A-4147-A177-3AD203B41FA5}">
                      <a16:colId xmlns:a16="http://schemas.microsoft.com/office/drawing/2014/main" val="1333559034"/>
                    </a:ext>
                  </a:extLst>
                </a:gridCol>
                <a:gridCol w="2480275">
                  <a:extLst>
                    <a:ext uri="{9D8B030D-6E8A-4147-A177-3AD203B41FA5}">
                      <a16:colId xmlns:a16="http://schemas.microsoft.com/office/drawing/2014/main" val="868760434"/>
                    </a:ext>
                  </a:extLst>
                </a:gridCol>
                <a:gridCol w="1855079">
                  <a:extLst>
                    <a:ext uri="{9D8B030D-6E8A-4147-A177-3AD203B41FA5}">
                      <a16:colId xmlns:a16="http://schemas.microsoft.com/office/drawing/2014/main" val="1708218095"/>
                    </a:ext>
                  </a:extLst>
                </a:gridCol>
              </a:tblGrid>
              <a:tr h="5502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Social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Government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Environmental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510309"/>
                  </a:ext>
                </a:extLst>
              </a:tr>
              <a:tr h="786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Safer roads → fewer accidents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Real-time monitoring &amp; dashboards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Recycles plastic waste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0531061"/>
                  </a:ext>
                </a:extLst>
              </a:tr>
              <a:tr h="1493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Faster complaint resolution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Accountability of departments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Long-lasting roads → less maintenance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3070249"/>
                  </a:ext>
                </a:extLst>
              </a:tr>
              <a:tr h="1021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Citizen satisfaction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Data-driven repair prioritization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TiO</a:t>
                      </a:r>
                      <a:r>
                        <a:rPr lang="en-IN" dirty="0"/>
                        <a:t>₂ coating reduces pollution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965950"/>
                  </a:ext>
                </a:extLst>
              </a:tr>
            </a:tbl>
          </a:graphicData>
        </a:graphic>
      </p:graphicFrame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4DEF75A7-C75F-6709-F19B-BDE4403866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120274-150D-D51D-381D-7D6B8EBA8D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127" b="12928"/>
          <a:stretch>
            <a:fillRect/>
          </a:stretch>
        </p:blipFill>
        <p:spPr>
          <a:xfrm>
            <a:off x="7215808" y="1169915"/>
            <a:ext cx="4273826" cy="37460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 panose="020F0502020204030204"/>
              <a:ea typeface="MS PGothic" panose="020B0600070205080204" charset="-128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95738" y="264961"/>
            <a:ext cx="9004853" cy="697319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 panose="02020603050405020304"/>
                <a:ea typeface="MS PGothic" panose="020B0600070205080204" charset="-128"/>
              </a:rPr>
              <a:t>RESEARCH  AND REFERENCES</a:t>
            </a: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934278" y="1394640"/>
            <a:ext cx="10018644" cy="4615194"/>
          </a:xfrm>
          <a:prstGeom prst="rect">
            <a:avLst/>
          </a:prstGeom>
          <a:noFill/>
          <a:ln w="9525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US" sz="1400" b="0" strike="noStrike" spc="-1" dirty="0">
              <a:solidFill>
                <a:srgbClr val="000000"/>
              </a:solidFill>
              <a:latin typeface="Arial" panose="020B0604020202020204"/>
              <a:ea typeface="MS PGothic" panose="020B0600070205080204" charset="-128"/>
            </a:endParaRPr>
          </a:p>
          <a:p>
            <a:r>
              <a:rPr lang="en-IN" b="1" dirty="0"/>
              <a:t>Plastic Roads / Pothole-Resistant Materials</a:t>
            </a:r>
          </a:p>
          <a:p>
            <a:r>
              <a:rPr lang="en-IN" b="1" dirty="0"/>
              <a:t>Vasudevan, R., et al. (2008).</a:t>
            </a:r>
            <a:r>
              <a:rPr lang="en-IN" dirty="0"/>
              <a:t> </a:t>
            </a:r>
            <a:r>
              <a:rPr lang="en-IN" i="1" dirty="0"/>
              <a:t>Use of waste plastics in road construction.</a:t>
            </a:r>
            <a:r>
              <a:rPr lang="en-IN" dirty="0"/>
              <a:t> Indian Roads Congress (IRC).</a:t>
            </a:r>
            <a:br>
              <a:rPr lang="en-IN" dirty="0"/>
            </a:br>
            <a:r>
              <a:rPr lang="en-IN" dirty="0"/>
              <a:t>→ Standard methodology for plastic-modified bitumen roads.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 err="1"/>
              <a:t>TiO</a:t>
            </a:r>
            <a:r>
              <a:rPr lang="en-IN" b="1" dirty="0"/>
              <a:t>₂ Air-Purifying Roads</a:t>
            </a:r>
          </a:p>
          <a:p>
            <a:r>
              <a:rPr lang="en-IN" b="1" dirty="0"/>
              <a:t>Colangelo, F., et al. (2016).</a:t>
            </a:r>
            <a:r>
              <a:rPr lang="en-IN" dirty="0"/>
              <a:t> </a:t>
            </a:r>
            <a:r>
              <a:rPr lang="en-IN" i="1" dirty="0"/>
              <a:t>Photocatalytic </a:t>
            </a:r>
            <a:r>
              <a:rPr lang="en-IN" i="1" dirty="0" err="1"/>
              <a:t>TiO</a:t>
            </a:r>
            <a:r>
              <a:rPr lang="en-IN" i="1" dirty="0"/>
              <a:t>₂ for NOx abatement on roads: Field application review.</a:t>
            </a:r>
            <a:r>
              <a:rPr lang="en-IN" dirty="0"/>
              <a:t> Environmental Science and Pollution Research, 23, 17821–17835.</a:t>
            </a:r>
            <a:br>
              <a:rPr lang="en-IN" dirty="0"/>
            </a:br>
            <a:br>
              <a:rPr lang="en-IN" dirty="0"/>
            </a:br>
            <a:endParaRPr lang="en-IN" dirty="0"/>
          </a:p>
          <a:p>
            <a:r>
              <a:rPr lang="en-IN" b="1" dirty="0"/>
              <a:t>AI &amp; Pothole Detection</a:t>
            </a:r>
          </a:p>
          <a:p>
            <a:r>
              <a:rPr lang="en-IN" b="1" dirty="0"/>
              <a:t>Moghimi, A., et al. (2020).</a:t>
            </a:r>
            <a:r>
              <a:rPr lang="en-IN" dirty="0"/>
              <a:t> </a:t>
            </a:r>
            <a:r>
              <a:rPr lang="en-IN" i="1" dirty="0"/>
              <a:t>Automatic pothole detection from road images using deep learning.</a:t>
            </a:r>
            <a:r>
              <a:rPr lang="en-IN" dirty="0"/>
              <a:t> Transportation Research Part C, 115, 102618.</a:t>
            </a:r>
            <a:br>
              <a:rPr lang="en-IN" dirty="0"/>
            </a:br>
            <a:r>
              <a:rPr lang="en-IN" dirty="0"/>
              <a:t>→ Shows AI models (CNNs) can detect potholes automatically from images.</a:t>
            </a:r>
          </a:p>
          <a:p>
            <a:pPr marL="342900" indent="-3429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/>
              <a:buChar char="•"/>
            </a:pPr>
            <a:endParaRPr lang="en-IN" sz="2800" b="0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MS PGothic" panose="020B0600070205080204" charset="-128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4" name="Oval 8"/>
          <p:cNvSpPr/>
          <p:nvPr/>
        </p:nvSpPr>
        <p:spPr>
          <a:xfrm>
            <a:off x="308778" y="402300"/>
            <a:ext cx="125100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b="1" spc="-1" dirty="0">
                <a:solidFill>
                  <a:schemeClr val="dk1"/>
                </a:solidFill>
                <a:latin typeface="Calibri" panose="020F0502020204030204"/>
                <a:ea typeface="MS PGothic" panose="020B0600070205080204" charset="-128"/>
              </a:rPr>
              <a:t>BOLT</a:t>
            </a:r>
            <a:endParaRPr lang="en-IN" sz="1800" b="1" strike="noStrike" spc="-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3"/>
          <a:stretch>
            <a:fillRect/>
          </a:stretch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4"/>
          <a:stretch>
            <a:fillRect/>
          </a:stretch>
        </p:blipFill>
        <p:spPr>
          <a:xfrm>
            <a:off x="8355365" y="128521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71*252"/>
  <p:tag name="TABLE_ENDDRAG_RECT" val="144*135*671*252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431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Arial</vt:lpstr>
      <vt:lpstr>Calibri</vt:lpstr>
      <vt:lpstr>Garamond</vt:lpstr>
      <vt:lpstr>Symbol</vt:lpstr>
      <vt:lpstr>Times New Roman</vt:lpstr>
      <vt:lpstr>TradeGothic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“SAMVED” HACKATHON 2026</vt:lpstr>
      <vt:lpstr> </vt:lpstr>
      <vt:lpstr>       TECHNICAL APPROACH</vt:lpstr>
      <vt:lpstr> 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Muthoju Pravalika</cp:lastModifiedBy>
  <cp:revision>153</cp:revision>
  <dcterms:created xsi:type="dcterms:W3CDTF">2013-12-12T18:46:00Z</dcterms:created>
  <dcterms:modified xsi:type="dcterms:W3CDTF">2026-02-09T16:50:10Z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  <property fmtid="{D5CDD505-2E9C-101B-9397-08002B2CF9AE}" pid="5" name="ICV">
    <vt:lpwstr>A7F9781CE2BF4CEA958A5477D51CF5A2_13</vt:lpwstr>
  </property>
  <property fmtid="{D5CDD505-2E9C-101B-9397-08002B2CF9AE}" pid="6" name="KSOProductBuildVer">
    <vt:lpwstr>1033-12.2.0.23196</vt:lpwstr>
  </property>
</Properties>
</file>